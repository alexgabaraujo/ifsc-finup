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de capa. Apresente o nome do projeto e os integrantes.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Explique o problema que o FinUp resolve: dificuldade de controlar finanças pessoais. Mostre as 4 funcionalidades principais.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Explique brevemente a stack: Angular no front, Spring Boot no back, MySQL para persistência.</a:t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Mostre o fluxo de login e cadastro. Destaque o uso de JWT para autenticação.</a:t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Destaque os 4 cards (saldo, receitas, despesas, metas), o gráfico de linha de fluxo mensal e o pizza de gastos por categoria.</a:t>
            </a:r>
            <a:endParaRPr/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Mostre como as categorias organizam os gastos. Destaque o resumo de orçamento e a tendência.</a:t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Mostre o histórico de transações com filtros e o formulário de nova transação. Destaque os tipos de pagamento.</a:t>
            </a:r>
            <a:endParaRPr/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Destaque os 4 gráficos (barras, evolução do saldo, ranking de categorias, top categorias) e a exportação Excel com 4 abas.</a:t>
            </a:r>
            <a:endParaRPr/>
          </a:p>
        </p:txBody>
      </p:sp>
      <p:sp>
        <p:nvSpPr>
          <p:cNvPr id="121" name="Google Shape;12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Explique a tela de perfil: edição de dados pessoais, troca de senha e alteração de e-mail na Danger Zone.</a:t>
            </a:r>
            <a:endParaRPr/>
          </a:p>
        </p:txBody>
      </p:sp>
      <p:sp>
        <p:nvSpPr>
          <p:cNvPr id="130" name="Google Shape;1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2b3d4934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f2b3d4934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Explique a tela de perfil: edição de dados pessoais, troca de senha e alteração de e-mail na Danger Zone.</a:t>
            </a:r>
            <a:endParaRPr/>
          </a:p>
        </p:txBody>
      </p:sp>
      <p:sp>
        <p:nvSpPr>
          <p:cNvPr id="149" name="Google Shape;149;g3f2b3d4934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de encerramento. Agradeça e abra para perguntas da banca.</a:t>
            </a:r>
            <a:endParaRPr/>
          </a:p>
        </p:txBody>
      </p:sp>
      <p:sp>
        <p:nvSpPr>
          <p:cNvPr id="157" name="Google Shape;1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tfihAQMYPdMlB0oM5PnX85mcGWXo2BaS/view" TargetMode="External"/><Relationship Id="rId4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D4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3F72AF">
              <a:alpha val="25098"/>
            </a:srgbClr>
          </a:solidFill>
          <a:ln cap="flat" cmpd="sng" w="12700">
            <a:solidFill>
              <a:srgbClr val="3F72A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3F72AF">
              <a:alpha val="14901"/>
            </a:srgbClr>
          </a:solidFill>
          <a:ln cap="flat" cmpd="sng" w="12700">
            <a:solidFill>
              <a:srgbClr val="3F72A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109728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FinUp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23317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Sistema de Gestão Financeira Pessoal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2880360"/>
            <a:ext cx="4114800" cy="36576"/>
          </a:xfrm>
          <a:prstGeom prst="rect">
            <a:avLst/>
          </a:prstGeom>
          <a:solidFill>
            <a:srgbClr val="3F72AF"/>
          </a:solidFill>
          <a:ln cap="flat" cmpd="sng" w="12700">
            <a:solidFill>
              <a:srgbClr val="3F72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48640" y="31089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A8FA6"/>
                </a:solidFill>
                <a:latin typeface="Arial"/>
                <a:ea typeface="Arial"/>
                <a:cs typeface="Arial"/>
                <a:sym typeface="Arial"/>
              </a:rPr>
              <a:t>Projeto Integrador — Análise e Desenvolvimento de Sistemas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34747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A8FA6"/>
                </a:solidFill>
                <a:latin typeface="Arial"/>
                <a:ea typeface="Arial"/>
                <a:cs typeface="Arial"/>
                <a:sym typeface="Arial"/>
              </a:rPr>
              <a:t>Instituto Federal de Santa Catarina · Câmpus Gaspar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402336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Alex Gabriel Araujo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Maria Eduarda da Silva Pereira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046720" y="46634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A8FA6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7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D4E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12D4E"/>
                </a:solidFill>
                <a:latin typeface="Calibri"/>
                <a:ea typeface="Calibri"/>
                <a:cs typeface="Calibri"/>
                <a:sym typeface="Calibri"/>
              </a:rPr>
              <a:t>O que é o FinUp?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96012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Aplicação web para gestão financeira pessoal que permite controlar receitas e despesas, organizar categorias de gastos, visualizar relatórios gráficos e exportar dados financeiros.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2194560"/>
            <a:ext cx="1920240" cy="2377440"/>
          </a:xfrm>
          <a:prstGeom prst="roundRect">
            <a:avLst>
              <a:gd fmla="val 5714" name="adj"/>
            </a:avLst>
          </a:prstGeom>
          <a:solidFill>
            <a:srgbClr val="112D4E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4231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457200" y="31089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349300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Visão geral em tempo real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606040" y="2194560"/>
            <a:ext cx="1920240" cy="2377440"/>
          </a:xfrm>
          <a:prstGeom prst="roundRect">
            <a:avLst>
              <a:gd fmla="val 5714" name="adj"/>
            </a:avLst>
          </a:prstGeom>
          <a:solidFill>
            <a:srgbClr val="112D4E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24231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2606040" y="31089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Transações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606040" y="349300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Receitas e despesas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754880" y="2194560"/>
            <a:ext cx="1920240" cy="2377440"/>
          </a:xfrm>
          <a:prstGeom prst="roundRect">
            <a:avLst>
              <a:gd fmla="val 5714" name="adj"/>
            </a:avLst>
          </a:prstGeom>
          <a:solidFill>
            <a:srgbClr val="112D4E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0680" y="24231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4754880" y="31089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Categorias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754880" y="349300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Orçamentos por grupo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903720" y="2194560"/>
            <a:ext cx="1920240" cy="2377440"/>
          </a:xfrm>
          <a:prstGeom prst="roundRect">
            <a:avLst>
              <a:gd fmla="val 5714" name="adj"/>
            </a:avLst>
          </a:prstGeom>
          <a:solidFill>
            <a:srgbClr val="112D4E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9520" y="24231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6903720" y="31089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Relatórios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903720" y="349300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Análise e exportação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anual_imgs/dashboard.png" id="48" name="Google Shape;4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69280" y="868680"/>
            <a:ext cx="3200400" cy="1293876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D4E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Tecnologias Utilizadas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57200" y="1097280"/>
            <a:ext cx="3931920" cy="1691640"/>
          </a:xfrm>
          <a:prstGeom prst="roundRect">
            <a:avLst>
              <a:gd fmla="val 5405" name="adj"/>
            </a:avLst>
          </a:prstGeom>
          <a:solidFill>
            <a:srgbClr val="1A3A5C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94360" y="1188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94360" y="1572768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4C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0B4C8"/>
                </a:solidFill>
                <a:latin typeface="Arial"/>
                <a:ea typeface="Arial"/>
                <a:cs typeface="Arial"/>
                <a:sym typeface="Arial"/>
              </a:rPr>
              <a:t>Angular </a:t>
            </a:r>
            <a:r>
              <a:rPr lang="en-US" sz="1200">
                <a:solidFill>
                  <a:srgbClr val="A0B4C8"/>
                </a:solidFill>
              </a:rPr>
              <a:t>21</a:t>
            </a:r>
            <a:r>
              <a:rPr b="0" i="0" lang="en-US" sz="1200" u="none" cap="none" strike="noStrike">
                <a:solidFill>
                  <a:srgbClr val="A0B4C8"/>
                </a:solidFill>
                <a:latin typeface="Arial"/>
                <a:ea typeface="Arial"/>
                <a:cs typeface="Arial"/>
                <a:sym typeface="Arial"/>
              </a:rPr>
              <a:t> ·  Tailwind CSS  ·  Highcharts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754880" y="1097280"/>
            <a:ext cx="3931920" cy="1691640"/>
          </a:xfrm>
          <a:prstGeom prst="roundRect">
            <a:avLst>
              <a:gd fmla="val 5405" name="adj"/>
            </a:avLst>
          </a:prstGeom>
          <a:solidFill>
            <a:srgbClr val="1A3A5C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892040" y="1572768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4C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0B4C8"/>
                </a:solidFill>
                <a:latin typeface="Arial"/>
                <a:ea typeface="Arial"/>
                <a:cs typeface="Arial"/>
                <a:sym typeface="Arial"/>
              </a:rPr>
              <a:t>Java 21  ·  Spring Boot 4.</a:t>
            </a:r>
            <a:r>
              <a:rPr lang="en-US" sz="1200">
                <a:solidFill>
                  <a:srgbClr val="A0B4C8"/>
                </a:solidFill>
              </a:rPr>
              <a:t>0.5</a:t>
            </a:r>
            <a:r>
              <a:rPr b="0" i="0" lang="en-US" sz="1200" u="none" cap="none" strike="noStrike">
                <a:solidFill>
                  <a:srgbClr val="A0B4C8"/>
                </a:solidFill>
                <a:latin typeface="Arial"/>
                <a:ea typeface="Arial"/>
                <a:cs typeface="Arial"/>
                <a:sym typeface="Arial"/>
              </a:rPr>
              <a:t>  ·  Spring Security  ·  JWT Auth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57200" y="3017520"/>
            <a:ext cx="3931920" cy="1691640"/>
          </a:xfrm>
          <a:prstGeom prst="roundRect">
            <a:avLst>
              <a:gd fmla="val 5405" name="adj"/>
            </a:avLst>
          </a:prstGeom>
          <a:solidFill>
            <a:srgbClr val="1A3A5C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94360" y="31089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94360" y="3493008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4C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0B4C8"/>
                </a:solidFill>
                <a:latin typeface="Arial"/>
                <a:ea typeface="Arial"/>
                <a:cs typeface="Arial"/>
                <a:sym typeface="Arial"/>
              </a:rPr>
              <a:t>MySQL  ·  Spring Data JPA  ·  Hibernate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754880" y="3017520"/>
            <a:ext cx="3931920" cy="1691640"/>
          </a:xfrm>
          <a:prstGeom prst="roundRect">
            <a:avLst>
              <a:gd fmla="val 5405" name="adj"/>
            </a:avLst>
          </a:prstGeom>
          <a:solidFill>
            <a:srgbClr val="1A3A5C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892040" y="31089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Outras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892040" y="3493008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4C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0B4C8"/>
                </a:solidFill>
                <a:latin typeface="Arial"/>
                <a:ea typeface="Arial"/>
                <a:cs typeface="Arial"/>
                <a:sym typeface="Arial"/>
              </a:rPr>
              <a:t>SheetJS (Excel)  ·  Git /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7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D4E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12D4E"/>
                </a:solidFill>
                <a:latin typeface="Calibri"/>
                <a:ea typeface="Calibri"/>
                <a:cs typeface="Calibri"/>
                <a:sym typeface="Calibri"/>
              </a:rPr>
              <a:t>Acesso ao Sistema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anual_imgs/login.png" id="73" name="Google Shape;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05840"/>
            <a:ext cx="3474720" cy="1697126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</p:pic>
      <p:sp>
        <p:nvSpPr>
          <p:cNvPr id="74" name="Google Shape;74;p6"/>
          <p:cNvSpPr/>
          <p:nvPr/>
        </p:nvSpPr>
        <p:spPr>
          <a:xfrm>
            <a:off x="365760" y="279440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A8FA6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anual_imgs/cadastro.png" id="75" name="Google Shape;7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080" y="1005840"/>
            <a:ext cx="3474720" cy="170627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</p:pic>
      <p:sp>
        <p:nvSpPr>
          <p:cNvPr id="76" name="Google Shape;76;p6"/>
          <p:cNvSpPr/>
          <p:nvPr/>
        </p:nvSpPr>
        <p:spPr>
          <a:xfrm>
            <a:off x="5212080" y="280355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A8FA6"/>
                </a:solidFill>
                <a:latin typeface="Arial"/>
                <a:ea typeface="Arial"/>
                <a:cs typeface="Arial"/>
                <a:sym typeface="Arial"/>
              </a:rPr>
              <a:t>Cadastro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3931920" y="2103120"/>
            <a:ext cx="1280160" cy="502920"/>
          </a:xfrm>
          <a:prstGeom prst="roundRect">
            <a:avLst>
              <a:gd fmla="val 18182" name="adj"/>
            </a:avLst>
          </a:prstGeom>
          <a:solidFill>
            <a:srgbClr val="11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3931920" y="210312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JWT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3749040" y="27432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2D4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2D4E"/>
                </a:solidFill>
                <a:latin typeface="Arial"/>
                <a:ea typeface="Arial"/>
                <a:cs typeface="Arial"/>
                <a:sym typeface="Arial"/>
              </a:rPr>
              <a:t>Autenticação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2D4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2D4E"/>
                </a:solidFill>
                <a:latin typeface="Arial"/>
                <a:ea typeface="Arial"/>
                <a:cs typeface="Arial"/>
                <a:sym typeface="Arial"/>
              </a:rPr>
              <a:t>segura com token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D4E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anual_imgs/dashboard.png" id="86" name="Google Shape;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14400"/>
            <a:ext cx="5669280" cy="2292401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</p:pic>
      <p:pic>
        <p:nvPicPr>
          <p:cNvPr descr="preencoded.png" id="87" name="Google Shape;8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3640" y="10515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6675120" y="10058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Saldo atual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6675120" y="1261872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8FA6"/>
                </a:solidFill>
                <a:latin typeface="Arial"/>
                <a:ea typeface="Arial"/>
                <a:cs typeface="Arial"/>
                <a:sym typeface="Arial"/>
              </a:rPr>
              <a:t>Com opção de ocultar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2057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7"/>
          <p:cNvSpPr/>
          <p:nvPr/>
        </p:nvSpPr>
        <p:spPr>
          <a:xfrm>
            <a:off x="6675120" y="201168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Receitas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6675120" y="2267712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8FA6"/>
                </a:solidFill>
                <a:latin typeface="Arial"/>
                <a:ea typeface="Arial"/>
                <a:cs typeface="Arial"/>
                <a:sym typeface="Arial"/>
              </a:rPr>
              <a:t>Total do período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3640" y="30632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/>
          <p:nvPr/>
        </p:nvSpPr>
        <p:spPr>
          <a:xfrm>
            <a:off x="6675120" y="301752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Despesas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675120" y="3273552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8FA6"/>
                </a:solidFill>
                <a:latin typeface="Arial"/>
                <a:ea typeface="Arial"/>
                <a:cs typeface="Arial"/>
                <a:sym typeface="Arial"/>
              </a:rPr>
              <a:t>Total do período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3640" y="40690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7"/>
          <p:cNvSpPr/>
          <p:nvPr/>
        </p:nvSpPr>
        <p:spPr>
          <a:xfrm>
            <a:off x="6675120" y="402336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Metas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675120" y="4279392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8FA6"/>
                </a:solidFill>
                <a:latin typeface="Arial"/>
                <a:ea typeface="Arial"/>
                <a:cs typeface="Arial"/>
                <a:sym typeface="Arial"/>
              </a:rPr>
              <a:t>% atingido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7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D4E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12D4E"/>
                </a:solidFill>
                <a:latin typeface="Calibri"/>
                <a:ea typeface="Calibri"/>
                <a:cs typeface="Calibri"/>
                <a:sym typeface="Calibri"/>
              </a:rPr>
              <a:t>Categorias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anual_imgs/categorias.png" id="105" name="Google Shape;1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14400"/>
            <a:ext cx="5303520" cy="2173529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</p:pic>
      <p:sp>
        <p:nvSpPr>
          <p:cNvPr id="106" name="Google Shape;106;p8"/>
          <p:cNvSpPr/>
          <p:nvPr/>
        </p:nvSpPr>
        <p:spPr>
          <a:xfrm>
            <a:off x="5852160" y="868680"/>
            <a:ext cx="3017520" cy="4023360"/>
          </a:xfrm>
          <a:prstGeom prst="roundRect">
            <a:avLst>
              <a:gd fmla="val 3636" name="adj"/>
            </a:avLst>
          </a:prstGeom>
          <a:solidFill>
            <a:srgbClr val="112D4E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5989320" y="1005840"/>
            <a:ext cx="2743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Resumo do orçamento total vs gasto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BE2E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Cards por categoria com barra de progresso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BE2E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Tendência vs período anterior (%)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BE2E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Filtro por período (mês / trimestre / ano)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BE2E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Criar</a:t>
            </a:r>
            <a:r>
              <a:rPr lang="en-US" sz="1200">
                <a:solidFill>
                  <a:srgbClr val="DBE2EF"/>
                </a:solidFill>
              </a:rPr>
              <a:t> </a:t>
            </a:r>
            <a:r>
              <a:rPr b="0" i="0" lang="en-US" sz="12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e excluir categorias</a:t>
            </a:r>
            <a:endParaRPr b="0" i="0" sz="1200" u="none" cap="none" strike="noStrike">
              <a:solidFill>
                <a:srgbClr val="DBE2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BE2EF"/>
              </a:buClr>
              <a:buSzPts val="1200"/>
              <a:buChar char="•"/>
            </a:pPr>
            <a:r>
              <a:rPr lang="en-US" sz="1200">
                <a:solidFill>
                  <a:srgbClr val="DBE2EF"/>
                </a:solidFill>
              </a:rPr>
              <a:t>Cadastro de uma nova transação</a:t>
            </a:r>
            <a:endParaRPr sz="1200">
              <a:solidFill>
                <a:srgbClr val="DBE2EF"/>
              </a:solidFill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DBE2E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Gráfico de tendências nos últimos 6 meses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D4E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Transações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anual_imgs/transacoes.png" id="114" name="Google Shape;1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14400"/>
            <a:ext cx="5303520" cy="2571293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</p:pic>
      <p:pic>
        <p:nvPicPr>
          <p:cNvPr descr="/home/claude/manual_imgs/nova_transacao.png" id="115" name="Google Shape;11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5040" y="1097280"/>
            <a:ext cx="2743200" cy="258318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</p:pic>
      <p:sp>
        <p:nvSpPr>
          <p:cNvPr id="116" name="Google Shape;116;p9"/>
          <p:cNvSpPr/>
          <p:nvPr/>
        </p:nvSpPr>
        <p:spPr>
          <a:xfrm>
            <a:off x="6035040" y="37719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FA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8FA6"/>
                </a:solidFill>
                <a:latin typeface="Arial"/>
                <a:ea typeface="Arial"/>
                <a:cs typeface="Arial"/>
                <a:sym typeface="Arial"/>
              </a:rPr>
              <a:t>Nova Transação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5989320" y="411480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Tipos de pagamento aceitos:</a:t>
            </a:r>
            <a:br>
              <a:rPr b="1" i="0" lang="en-US" sz="11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PIX · Cartão de Débito · Cartão de Crédito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Boleto · Dinheiro · Cheque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7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2D4E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12D4E"/>
                </a:solidFill>
                <a:latin typeface="Calibri"/>
                <a:ea typeface="Calibri"/>
                <a:cs typeface="Calibri"/>
                <a:sym typeface="Calibri"/>
              </a:rPr>
              <a:t>Relatórios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anual_imgs/relatorios.png" id="124" name="Google Shape;1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14400"/>
            <a:ext cx="8412480" cy="382585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</p:pic>
      <p:sp>
        <p:nvSpPr>
          <p:cNvPr id="125" name="Google Shape;125;p10"/>
          <p:cNvSpPr/>
          <p:nvPr/>
        </p:nvSpPr>
        <p:spPr>
          <a:xfrm>
            <a:off x="365760" y="4297680"/>
            <a:ext cx="3200400" cy="594360"/>
          </a:xfrm>
          <a:prstGeom prst="roundRect">
            <a:avLst>
              <a:gd fmla="val 15385" name="adj"/>
            </a:avLst>
          </a:prstGeom>
          <a:solidFill>
            <a:srgbClr val="112D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457200" y="432511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Exportação em Excel (.xlsx) com 4 abas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D4E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 e Segurança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manual_imgs/perfil.png" id="133" name="Google Shape;13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14400"/>
            <a:ext cx="5303520" cy="2647188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</p:pic>
      <p:sp>
        <p:nvSpPr>
          <p:cNvPr id="134" name="Google Shape;134;p11"/>
          <p:cNvSpPr/>
          <p:nvPr/>
        </p:nvSpPr>
        <p:spPr>
          <a:xfrm>
            <a:off x="5943600" y="1005840"/>
            <a:ext cx="2926080" cy="1143000"/>
          </a:xfrm>
          <a:prstGeom prst="roundRect">
            <a:avLst>
              <a:gd fmla="val 8000" name="adj"/>
            </a:avLst>
          </a:prstGeom>
          <a:solidFill>
            <a:srgbClr val="1A3A5C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0760" y="11430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1"/>
          <p:cNvSpPr/>
          <p:nvPr/>
        </p:nvSpPr>
        <p:spPr>
          <a:xfrm>
            <a:off x="6492240" y="1097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Dados Pessoais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6492240" y="1399032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4C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0B4C8"/>
                </a:solidFill>
                <a:latin typeface="Arial"/>
                <a:ea typeface="Arial"/>
                <a:cs typeface="Arial"/>
                <a:sym typeface="Arial"/>
              </a:rPr>
              <a:t>Nome, username, telefone e data de nascimento editáveis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5943600" y="2331720"/>
            <a:ext cx="2926080" cy="1143000"/>
          </a:xfrm>
          <a:prstGeom prst="roundRect">
            <a:avLst>
              <a:gd fmla="val 8000" name="adj"/>
            </a:avLst>
          </a:prstGeom>
          <a:solidFill>
            <a:srgbClr val="1A3A5C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0760" y="24688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1"/>
          <p:cNvSpPr/>
          <p:nvPr/>
        </p:nvSpPr>
        <p:spPr>
          <a:xfrm>
            <a:off x="6492240" y="2423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Alteração de Senha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6492240" y="2724912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4C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0B4C8"/>
                </a:solidFill>
                <a:latin typeface="Arial"/>
                <a:ea typeface="Arial"/>
                <a:cs typeface="Arial"/>
                <a:sym typeface="Arial"/>
              </a:rPr>
              <a:t>Troca segura de credenciais de acesso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5943600" y="3657600"/>
            <a:ext cx="2926080" cy="1143000"/>
          </a:xfrm>
          <a:prstGeom prst="roundRect">
            <a:avLst>
              <a:gd fmla="val 8000" name="adj"/>
            </a:avLst>
          </a:prstGeom>
          <a:solidFill>
            <a:srgbClr val="1A3A5C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80760" y="37947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1"/>
          <p:cNvSpPr/>
          <p:nvPr/>
        </p:nvSpPr>
        <p:spPr>
          <a:xfrm>
            <a:off x="6492240" y="37490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Danger Zone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6492240" y="4050792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4C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0B4C8"/>
                </a:solidFill>
                <a:latin typeface="Arial"/>
                <a:ea typeface="Arial"/>
                <a:cs typeface="Arial"/>
                <a:sym typeface="Arial"/>
              </a:rPr>
              <a:t>Alteração de e-mail com confirmação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D4E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/>
          <p:nvPr/>
        </p:nvSpPr>
        <p:spPr>
          <a:xfrm>
            <a:off x="457200" y="25603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Apresentação do sistema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4769575" y="37259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2" title="Gravando 2026-06-28 20312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957125"/>
            <a:ext cx="8229600" cy="39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D4E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3F72AF">
              <a:alpha val="25098"/>
            </a:srgbClr>
          </a:solidFill>
          <a:ln cap="flat" cmpd="sng" w="12700">
            <a:solidFill>
              <a:srgbClr val="3F72A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548640" y="1097280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548640" y="21488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2E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BE2EF"/>
                </a:solidFill>
                <a:latin typeface="Arial"/>
                <a:ea typeface="Arial"/>
                <a:cs typeface="Arial"/>
                <a:sym typeface="Arial"/>
              </a:rPr>
              <a:t>FinUp — Sistema de Gestão Financeira Pessoal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548640" y="2697480"/>
            <a:ext cx="3657600" cy="36576"/>
          </a:xfrm>
          <a:prstGeom prst="rect">
            <a:avLst/>
          </a:prstGeom>
          <a:solidFill>
            <a:srgbClr val="3F72AF"/>
          </a:solidFill>
          <a:ln cap="flat" cmpd="sng" w="12700">
            <a:solidFill>
              <a:srgbClr val="3F72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"/>
          <p:cNvSpPr/>
          <p:nvPr/>
        </p:nvSpPr>
        <p:spPr>
          <a:xfrm>
            <a:off x="548640" y="2926080"/>
            <a:ext cx="5029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